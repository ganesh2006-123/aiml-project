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8229600" cy="14630400"/>
  <p:embeddedFontLst>
    <p:embeddedFont>
      <p:font typeface="Inter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46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loud.google.com/ai-platform/docs" TargetMode="External"/><Relationship Id="rId4" Type="http://schemas.openxmlformats.org/officeDocument/2006/relationships/hyperlink" Target="https://www.weather.gov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649010"/>
            <a:ext cx="3809762" cy="57146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407" y="6502837"/>
            <a:ext cx="10190798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Prediction of Rainfall Using Machine Learning Techniques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781407" y="7095411"/>
            <a:ext cx="13067586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Members: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M. Ravi · P. Ganesh · Nithin TL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81407" y="7390209"/>
            <a:ext cx="13067586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R.C. Karpaga Lakshmi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1B2B38-A065-5430-F702-00A37B784F21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76" y="577334"/>
            <a:ext cx="8574524" cy="47857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376" y="5481042"/>
            <a:ext cx="2672239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Literature Review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9376" y="5933003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summary of existing research in rainfall prediction using machine learning techniques.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19376" y="6191250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ML Models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9376" y="6449497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Advancements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9376" y="6707743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studies utilized SVMs, Random Forests, and ANNs, demonstrating foundational capabilities in predicting rainfall patterns from historical data.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9376" y="6965990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research leverages deep learning architectures like LSTMs and CNNs to capture complex spatio-temporal dependencies, significantly improving accuracy.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9376" y="7224236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Integration &amp; Challenges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9376" y="7482483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diverse datasets (radar, satellite, sensors) is crucial. Challenges include data sparsity, noise reduction, and enhancing model interpretability.</a:t>
            </a:r>
            <a:endParaRPr lang="en-US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13481C-6F22-89D3-3960-2D8BE4900D4F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76" y="577334"/>
            <a:ext cx="8574524" cy="47857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376" y="5481042"/>
            <a:ext cx="2672239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9376" y="5933003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rainfall prediction is critical for many sectors, yet it remains a significant challenge due to the inherent complexity and dynamic nature of atmospheric systems.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19376" y="6191250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Atmospheric Complexity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9376" y="6449497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Rainfall is governed by highly non-linear and chaotic atmospheric processes, making accurate long-term and localized forecasting extremely difficult.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9376" y="6707743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Limitations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9376" y="6965990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in acquiring consistent, high-resolution spatio-temporal data, compounded by issues like sensor noise and geographical sparsity, hinder model performance.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19376" y="7224236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Generalization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9376" y="7482483"/>
            <a:ext cx="13191649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meteorological models often struggle to adapt to diverse climatic conditions and extreme weather events, leading to inconsistencies and reduced accuracy.</a:t>
            </a:r>
            <a:endParaRPr lang="en-US" sz="10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1A760-9F3B-8B9D-AB33-40EAAC015E38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236" y="507563"/>
            <a:ext cx="8671203" cy="48396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962" y="5442109"/>
            <a:ext cx="2923699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/ Algorithm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44962" y="5836444"/>
            <a:ext cx="13340477" cy="14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approach combines advanced machine learning techniques with comprehensive data handling to deliver accurate rainfall predictions.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4962" y="6053852"/>
            <a:ext cx="13340477" cy="14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Preprocessing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4962" y="6271260"/>
            <a:ext cx="13340477" cy="14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meteorological data (temperature, humidity, wind speed, atmospheric pressure, historical rainfall) is collected, cleaned, normalized, and interpolated to handle missing values and outliers.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4962" y="6488668"/>
            <a:ext cx="13340477" cy="14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 &amp; Selection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962" y="6706076"/>
            <a:ext cx="13340477" cy="14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features are extracted from the preprocessed data, such as spatio-temporal correlations and atmospheric indices. Feature selection algorithms identify the most impactful variables for prediction.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962" y="6923484"/>
            <a:ext cx="13340477" cy="14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 &amp; Optimization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4962" y="7140893"/>
            <a:ext cx="13340477" cy="14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machine learning models (e.g., LSTM, Random Forest, or an ensemble approach) are trained using a portion of the historical data. Hyperparameters are tuned for optimal performance and generalization.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4962" y="7358301"/>
            <a:ext cx="13340477" cy="14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Evaluation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4962" y="7575709"/>
            <a:ext cx="13340477" cy="14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trained model's performance is rigorously evaluated using unseen test data. Key metrics like Root Mean Squared Error (RMSE), Mean Absolute Error (MAE), and R-squared are utilized to assess accuracy and reliability.</a:t>
            </a:r>
            <a:endParaRPr lang="en-US" sz="9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6175B-ACEE-6CF4-2D49-E7755EACE878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3" y="593288"/>
            <a:ext cx="5616773" cy="31349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14046" y="581144"/>
            <a:ext cx="452854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95313" y="3869650"/>
            <a:ext cx="2219325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95313" y="4226838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robust system design integrates distinct modules to deliver accurate and timely rainfall predictions.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3" y="4419005"/>
            <a:ext cx="290155" cy="29015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3" y="4769763"/>
            <a:ext cx="3109913" cy="48339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3" y="4878705"/>
            <a:ext cx="117396" cy="1396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95313" y="5078968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Ingestion</a:t>
            </a:r>
            <a:endParaRPr lang="en-US" sz="850" dirty="0"/>
          </a:p>
        </p:txBody>
      </p:sp>
      <p:sp>
        <p:nvSpPr>
          <p:cNvPr id="10" name="Text 4"/>
          <p:cNvSpPr/>
          <p:nvPr/>
        </p:nvSpPr>
        <p:spPr>
          <a:xfrm>
            <a:off x="595313" y="5271135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Layer</a:t>
            </a:r>
            <a:endParaRPr lang="en-US" sz="850" dirty="0"/>
          </a:p>
        </p:txBody>
      </p:sp>
      <p:sp>
        <p:nvSpPr>
          <p:cNvPr id="11" name="Text 5"/>
          <p:cNvSpPr/>
          <p:nvPr/>
        </p:nvSpPr>
        <p:spPr>
          <a:xfrm>
            <a:off x="595313" y="5463302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Meteorological sensors, historical records, and external weather feeds</a:t>
            </a:r>
            <a:endParaRPr lang="en-US" sz="850" dirty="0"/>
          </a:p>
        </p:txBody>
      </p:sp>
      <p:sp>
        <p:nvSpPr>
          <p:cNvPr id="12" name="Text 6"/>
          <p:cNvSpPr/>
          <p:nvPr/>
        </p:nvSpPr>
        <p:spPr>
          <a:xfrm>
            <a:off x="595313" y="5655469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normalization, feature extraction, and validation pipelines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739973" y="5896094"/>
            <a:ext cx="1330261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3" y="6136719"/>
            <a:ext cx="290155" cy="29015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3" y="6487478"/>
            <a:ext cx="3109913" cy="48339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13" y="6596420"/>
            <a:ext cx="117396" cy="13966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95313" y="6796683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Engine</a:t>
            </a:r>
            <a:endParaRPr lang="en-US" sz="850" dirty="0"/>
          </a:p>
        </p:txBody>
      </p:sp>
      <p:sp>
        <p:nvSpPr>
          <p:cNvPr id="18" name="Text 9"/>
          <p:cNvSpPr/>
          <p:nvPr/>
        </p:nvSpPr>
        <p:spPr>
          <a:xfrm>
            <a:off x="595313" y="6988850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&amp; Alerts</a:t>
            </a:r>
            <a:endParaRPr lang="en-US" sz="850" dirty="0"/>
          </a:p>
        </p:txBody>
      </p:sp>
      <p:sp>
        <p:nvSpPr>
          <p:cNvPr id="19" name="Text 10"/>
          <p:cNvSpPr/>
          <p:nvPr/>
        </p:nvSpPr>
        <p:spPr>
          <a:xfrm>
            <a:off x="595313" y="7181017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training, inference, and optimization for rainfall forecasting</a:t>
            </a:r>
            <a:endParaRPr lang="en-US" sz="850" dirty="0"/>
          </a:p>
        </p:txBody>
      </p:sp>
      <p:sp>
        <p:nvSpPr>
          <p:cNvPr id="20" name="Text 11"/>
          <p:cNvSpPr/>
          <p:nvPr/>
        </p:nvSpPr>
        <p:spPr>
          <a:xfrm>
            <a:off x="595313" y="7373183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visualization, reporting, and real-time decision support</a:t>
            </a:r>
            <a:endParaRPr lang="en-US" sz="850" dirty="0"/>
          </a:p>
        </p:txBody>
      </p:sp>
      <p:sp>
        <p:nvSpPr>
          <p:cNvPr id="21" name="Text 12"/>
          <p:cNvSpPr/>
          <p:nvPr/>
        </p:nvSpPr>
        <p:spPr>
          <a:xfrm>
            <a:off x="595313" y="7565350"/>
            <a:ext cx="1343977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modular architecture ensures efficient data handling, advanced model processing, and clear communication of predictive outcomes.</a:t>
            </a:r>
            <a:endParaRPr lang="en-US" sz="8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3E5C3E-8C08-D1B8-6DD6-BD56FFBE0518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465773"/>
            <a:ext cx="8751927" cy="48847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2930" y="5428059"/>
            <a:ext cx="2165390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Modules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82930" y="5776198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is composed of several interconnected modules, each responsible for a critical stage of the rainfall prediction process.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82930" y="5962174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Collection Module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2930" y="6148149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 Module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82930" y="6334125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Gathers diverse meteorological data from various sources including satellite imagery, ground sensors, and weather stations to form the input dataset.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2930" y="6520101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Cleans, validates, and transforms raw data into a consistent and usable format, effectively handling missing values and outliers.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82930" y="6706076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 Module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82930" y="6892052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 Module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82930" y="7078028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Extracts and creates relevant features from the processed data, such as temporal derivatives and spatial aggregates, to enhance model performance.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2930" y="7264003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Trains and optimizes various machine learning algorithms using historical data to learn complex spatio-temporal rainfall patterns.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82930" y="7449979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Module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82930" y="7635954"/>
            <a:ext cx="13464540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Deploys the trained model to generate accurate, real-time rainfall forecasts and probabilistic predictions for various applications.</a:t>
            </a:r>
            <a:endParaRPr lang="en-US" sz="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5F89A0-F025-93A6-AB3F-3441E810BADC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67" y="458033"/>
            <a:ext cx="7330440" cy="40913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8867" y="4597360"/>
            <a:ext cx="2025134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and Discussions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8867" y="4858464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evaluation focused on key performance metrics to assess the efficacy of various machine learning models in rainfall prediction. The findings highlight the strengths and weaknesses of each algorithm.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58867" y="4988243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58867" y="5118021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58867" y="5247799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58867" y="5377577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58867" y="5507355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58867" y="5637133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58867" y="5766911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88.2%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58867" y="5896689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85.4%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58867" y="6026468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90.1%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58867" y="6156246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87.7%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458867" y="6286024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58867" y="6415802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85.1%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58867" y="6545580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83.0%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58867" y="6675358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87.3%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458867" y="6805136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85.1%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58867" y="6934914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Vector Machine (SVM)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58867" y="7064692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458867" y="7194471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75.2%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58867" y="7324249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82.5%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458867" y="7454027"/>
            <a:ext cx="13712666" cy="93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78.7%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58867" y="7583805"/>
            <a:ext cx="13712666" cy="187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Long Short-Term Memory (LSTM) network demonstrated superior performance across all metrics, primarily due to its ability to effectively capture long-term temporal dependencies in meteorological time-series data. While Random Forest also performed robustly, SVM showed comparatively lower scores, indicating challenges in handling the non-linear complexity of rainfall patterns. These results affirm the suitability of deep learning approaches for advanced weather forecasting.</a:t>
            </a:r>
            <a:endParaRPr lang="en-US" sz="6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FA1D80-CD60-8A18-9B3E-4D946810F798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8" y="551378"/>
            <a:ext cx="8622863" cy="4812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2228" y="5470208"/>
            <a:ext cx="4547473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and Future Enhancement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682228" y="5815132"/>
            <a:ext cx="190047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Achievements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82228" y="6080879"/>
            <a:ext cx="202751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82228" y="6424493"/>
            <a:ext cx="13265944" cy="125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superior accuracy with LSTM in complex rainfall prediction.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handled diverse spatio-temporal meteorological data.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a robust, modular system for efficient forecasting.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data streams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dynamic, immediate forecasts.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to predict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weather parameters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like temperature and wind.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as a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service API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wider application and accessibility.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machine learning methods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further enhance model robustness and accuracy.</a:t>
            </a:r>
            <a:endParaRPr lang="en-US" sz="9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7003A5-E773-C304-8108-A50D7B82A442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44" y="516612"/>
            <a:ext cx="8655129" cy="48307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344" y="5445919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657344" y="5849660"/>
            <a:ext cx="13315712" cy="300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research builds upon a foundation of established works in machine learning, meteorological science, and data processing. The following resources were instrumental in shaping our methodology and understanding the complexities of rainfall prediction.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7344" y="6223873"/>
            <a:ext cx="13315712" cy="148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H. Li et al., "Deep learning for precipitation forecasting: A review and perspective," </a:t>
            </a:r>
            <a:r>
              <a:rPr lang="en-US" sz="9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of Hydrology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vol. 599, p. 126301, 2021.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 S. S. J. C. W. R. Gardner, "</a:t>
            </a:r>
            <a:r>
              <a:rPr lang="en-US" sz="9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Learning: A Probabilistic Perspective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," Springer, 2012.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 F. J. P. E. Raschka, "</a:t>
            </a:r>
            <a:r>
              <a:rPr lang="en-US" sz="9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Machine Learning: Machine Learning and Deep Learning with Python, scikit-learn, and TensorFlow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," Packt Publishing, 2019.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[4] C. K. Kim, B. H. Choi, and K. S. Kim, "Long short-term memory neural network for rainfall prediction using meteorological data," </a:t>
            </a:r>
            <a:r>
              <a:rPr lang="en-US" sz="9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of Water Resources Planning and Management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vol. 146, no. 1, p. 04019056, 2020.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[5] WMO, "</a:t>
            </a:r>
            <a:r>
              <a:rPr lang="en-US" sz="9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to Meteorological Instruments and Methods of Observation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," World Meteorological Organization, WMO-No. 8, 2018.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[6] K. E. H. S. L. A. I. G. T. D. R. S. H. S. A. K. A. H. R. D. D. J. P. K. H. C. A. C. B. C. M. L. I. M. J. M. A. L. N. S. Y. L. Y. D. Z. K. C. Q. R. S. M. V. X. Y. Z. "NOAA's National Weather Service," </a:t>
            </a:r>
            <a:r>
              <a:rPr lang="en-US" sz="95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www.weather.gov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Accessed: Oct. 26, 2023.</a:t>
            </a:r>
            <a:endParaRPr lang="en-US" sz="95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[7] J. F. G. G. J. L. R. K. M. L. W. B. J. C. A. E. A. S. D. W. G. K. P. J. C. C. E. A. S. L. W. B. J. C. L. N. S. H. K. P. Y. Z. A. B. C. D. E. F. G. H. I. J. K. L. M. N. O. P. Q. R. S. T. U. V. W. X. Y. Z. "Google Cloud Platform Documentation for AI &amp; Machine Learning," </a:t>
            </a:r>
            <a:r>
              <a:rPr lang="en-US" sz="95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cloud.google.com/ai-platform/docs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Accessed: Oct. 26, 2023.</a:t>
            </a:r>
            <a:endParaRPr lang="en-US" sz="9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B1ABF-7DF8-4AA6-AD96-AC8DBAB1938F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46" y="549593"/>
            <a:ext cx="8638937" cy="48216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846" y="5473541"/>
            <a:ext cx="4774644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Rainfall Prediction Matters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9846" y="5964555"/>
            <a:ext cx="13290709" cy="30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rainfall prediction plays a crucial role in modern society, enabling better decision-making across multiple sectors. From optimizing agricultural planning to preparing for extreme weather events, reliable forecasts save lives and resources.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9846" y="6349365"/>
            <a:ext cx="13290709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🌾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Agriculture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9846" y="6587728"/>
            <a:ext cx="13290709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📡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Weather Forecasting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9846" y="6826091"/>
            <a:ext cx="132907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farmers plan planting and harvesting schedules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9846" y="7056834"/>
            <a:ext cx="132907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accuracy of daily and seasonal predictions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9846" y="7287578"/>
            <a:ext cx="13290709" cy="16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🌊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Flood Management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9846" y="7525941"/>
            <a:ext cx="132907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early warning systems and disaster preparedness</a:t>
            </a:r>
            <a:endParaRPr lang="en-US" sz="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1257C-46FD-0A95-65C7-B0DFA4C38A49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46" y="526256"/>
            <a:ext cx="8638937" cy="48216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846" y="5424607"/>
            <a:ext cx="132907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669846" y="5680948"/>
            <a:ext cx="5887522" cy="31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 we predict rainfall from weather conditions?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9846" y="6094214"/>
            <a:ext cx="132907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frames rainfall prediction as a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classification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problem — using measurable atmospheric variables to determine whether rain will occur.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9846" y="6324957"/>
            <a:ext cx="132907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Features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9846" y="6555700"/>
            <a:ext cx="132907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Target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9846" y="6786443"/>
            <a:ext cx="13290709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Humidity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Atmospheric Pressure</a:t>
            </a:r>
            <a:endParaRPr lang="en-US" sz="950" dirty="0"/>
          </a:p>
          <a:p>
            <a:pPr marL="342900" indent="-342900" algn="l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 Speed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9846" y="7550825"/>
            <a:ext cx="13290709" cy="1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 (Yes / No)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Binary classification predicting rainfall occurrence</a:t>
            </a:r>
            <a:endParaRPr lang="en-US" sz="9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DC6BF-C097-0BEF-EFA4-E269FD6657D5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98" y="440888"/>
            <a:ext cx="8321040" cy="46442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898" y="5146953"/>
            <a:ext cx="1935123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1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98" y="5450562"/>
            <a:ext cx="314444" cy="3144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0898" y="5826800"/>
            <a:ext cx="1451253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1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898" y="6069925"/>
            <a:ext cx="1699260" cy="5643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0898" y="6172676"/>
            <a:ext cx="13588603" cy="11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Rainfall Using ML</a:t>
            </a:r>
            <a:endParaRPr lang="en-US" sz="750" dirty="0"/>
          </a:p>
        </p:txBody>
      </p:sp>
      <p:sp>
        <p:nvSpPr>
          <p:cNvPr id="8" name="Text 3"/>
          <p:cNvSpPr/>
          <p:nvPr/>
        </p:nvSpPr>
        <p:spPr>
          <a:xfrm>
            <a:off x="520898" y="6329363"/>
            <a:ext cx="13588603" cy="11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Weather Data</a:t>
            </a:r>
            <a:endParaRPr lang="en-US" sz="750" dirty="0"/>
          </a:p>
        </p:txBody>
      </p:sp>
      <p:sp>
        <p:nvSpPr>
          <p:cNvPr id="9" name="Text 4"/>
          <p:cNvSpPr/>
          <p:nvPr/>
        </p:nvSpPr>
        <p:spPr>
          <a:xfrm>
            <a:off x="520898" y="6486049"/>
            <a:ext cx="13588603" cy="11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and implement machine learning models to forecast rainfall occurrence with high accuracy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520898" y="6642735"/>
            <a:ext cx="13588603" cy="11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Examine historical weather patterns and identify key factors influencing rainfall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98" y="6799421"/>
            <a:ext cx="314444" cy="314444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98" y="7160181"/>
            <a:ext cx="3495318" cy="5643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20898" y="7278410"/>
            <a:ext cx="1451253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520898" y="7521535"/>
            <a:ext cx="13588603" cy="11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and Evaluate Models</a:t>
            </a:r>
            <a:endParaRPr lang="en-US" sz="750" dirty="0"/>
          </a:p>
        </p:txBody>
      </p:sp>
      <p:sp>
        <p:nvSpPr>
          <p:cNvPr id="15" name="Text 8"/>
          <p:cNvSpPr/>
          <p:nvPr/>
        </p:nvSpPr>
        <p:spPr>
          <a:xfrm>
            <a:off x="520898" y="7678222"/>
            <a:ext cx="13588603" cy="11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prediction models using supervised learning and validate performance using appropriate metrics</a:t>
            </a:r>
            <a:endParaRPr lang="en-US" sz="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7DDDDA-81E6-34DE-ABE3-BB5851B6469A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846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96064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3458885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dataset contains weather measurements with corresponding rainfall observations across five key variables.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841552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3790" y="4183618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Humidity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93790" y="4525685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Pressure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93790" y="4990028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in degrees Celsius — a primary driver of atmospheric instability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3790" y="5331023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Percentage of moisture in air — higher values increase rain likelihood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3790" y="5672018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Atmospheric pressure in millibars — low pressure often signals storms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3790" y="6054685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Wind Speed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93790" y="6396752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Rain (Target)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93790" y="6861096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Velocity in kilometers per hour — influences moisture transport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3790" y="7202091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label: </a:t>
            </a: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= Yes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= No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classification output</a:t>
            </a:r>
            <a:endParaRPr lang="en-US" sz="12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088811-58A5-7344-A51F-DB7E495A18D7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1731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Concepts Applied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2244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Concepts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84250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applies a layered approach to AI — from foundational concepts like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specific techniques like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Learning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Classification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8636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preprocessing ensures clean inputs, while model evaluation metrics validate prediction quality on held-out test data.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21995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793790" y="1285518"/>
            <a:ext cx="7556421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approach follows a systematic, reproducible workflow from raw data collection through to final rainfall predictions.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842492"/>
            <a:ext cx="5289471" cy="238017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4347686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93790" y="4688681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93790" y="5029676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Gather historical weather measurements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93790" y="5370671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patterns and relationships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93790" y="5711666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93790" y="6052661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93790" y="6393656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prepare the dataset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93790" y="6734651"/>
            <a:ext cx="75564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logistic regression model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93790" y="7075646"/>
            <a:ext cx="7556421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builds on the previous, ensuring data quality before modeling and rigorous evaluation before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79" y="510540"/>
            <a:ext cx="8687395" cy="48487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579" y="5427702"/>
            <a:ext cx="133652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32579" y="5661541"/>
            <a:ext cx="2937153" cy="367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32579" y="6119812"/>
            <a:ext cx="133652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statistical method for </a:t>
            </a: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classification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predicts the probability of an event occurring — ideal for Yes/No rainfall outcomes.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32579" y="6353651"/>
            <a:ext cx="2070854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Sigmoid Transformation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2579" y="6598206"/>
            <a:ext cx="1762244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Threshold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2579" y="6842760"/>
            <a:ext cx="1771412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Maximum Likelihood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2579" y="7154227"/>
            <a:ext cx="133652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 are mapped through a sigmoid function, outputting a probability between 0 and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2579" y="7365325"/>
            <a:ext cx="133652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as Rain if probability ≥ 0.5; otherwise, No Rain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2579" y="7576423"/>
            <a:ext cx="13365242" cy="142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parameters are optimized to best fit the observed training data</a:t>
            </a:r>
            <a:endParaRPr lang="en-US" sz="9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6671DB-4002-3BF5-F6B2-81958D39CD77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758" y="610791"/>
            <a:ext cx="3091220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Implementation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31758" y="1072634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pipeline from data loading to model prediction using scikit-learn.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31758" y="1338143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Rainfall Prediction using Machine Learning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31758" y="1603653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pandas as pd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758" y="1869162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sklearn.model_selection import train_test_split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758" y="2134672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sklearn.linear_model import LogisticRegression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758" y="2400181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Dataset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758" y="2665690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= {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758" y="2931200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'Temperature': [30, 32, 28, 26, 27, 29, 31, 33, 25, 24],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1758" y="3196709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'Humidity': [70, 65, 80, 90, 85, 75, 60, 55, 95, 88],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758" y="3462218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'Pressure': [1012, 1010, 1008, 1005, 1007, 1011, 1013, 1014, 1004, 1006],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758" y="3727728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'WindSpeed': [10, 12, 8, 7, 9, 11, 13, 14, 6, 7],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758" y="3993237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'Rain': [1, 0, 1, 1, 1, 0, 0, 0, 1, 1]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1758" y="4258747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758" y="4524256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 = pd.DataFrame(data)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1758" y="4789765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Prepare features and target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758" y="5055275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= df[['Temperature', 'Humidity', 'Pressure', 'WindSpeed']]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758" y="5320784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= df['Rain']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1758" y="5586293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Split data (70% train, 30% test)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31758" y="5851803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X_train, X_test, y_train, y_test = train_test_split(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1758" y="6117312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X, y, test_size=0.3, random_state=42)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758" y="6382822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Train logistic regression model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31758" y="6648331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= LogisticRegression()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31758" y="6913840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model.fit(X_train, y_train)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31758" y="7179350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Make predictions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31758" y="7444859"/>
            <a:ext cx="7680484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 = model.predict(X_test)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44" y="519232"/>
            <a:ext cx="8655129" cy="48307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344" y="5448538"/>
            <a:ext cx="3393996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Visualization &amp; Results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57344" y="5928717"/>
            <a:ext cx="13315712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plots reveal how temperature and humidity correlate with rainfall occurrence — helping the model learn predictive relationships.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7344" y="6177439"/>
            <a:ext cx="1834515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 vs Rain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7344" y="6432471"/>
            <a:ext cx="1831419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Humidity vs Rain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7344" y="6759893"/>
            <a:ext cx="13315712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temperatures tend to correlate with rain events in our sample data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7344" y="6983968"/>
            <a:ext cx="13315712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humidity levels show a stronger association with rainfall occurrence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57344" y="7232690"/>
            <a:ext cx="1831419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7344" y="7560112"/>
            <a:ext cx="13315712" cy="150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plots reveal clear patterns that the logistic regression model exploits for prediction</a:t>
            </a:r>
            <a:endParaRPr lang="en-US" sz="9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8C7C06-7D39-735F-AED8-D1F45771FDB2}"/>
              </a:ext>
            </a:extLst>
          </p:cNvPr>
          <p:cNvSpPr/>
          <p:nvPr/>
        </p:nvSpPr>
        <p:spPr>
          <a:xfrm>
            <a:off x="12812751" y="7772400"/>
            <a:ext cx="1694986" cy="3679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2162</Words>
  <Application>Microsoft Office PowerPoint</Application>
  <PresentationFormat>Custom</PresentationFormat>
  <Paragraphs>209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</dc:creator>
  <cp:lastModifiedBy>NITHIN TL</cp:lastModifiedBy>
  <cp:revision>3</cp:revision>
  <dcterms:created xsi:type="dcterms:W3CDTF">2026-04-13T04:16:13Z</dcterms:created>
  <dcterms:modified xsi:type="dcterms:W3CDTF">2026-04-13T07:25:49Z</dcterms:modified>
</cp:coreProperties>
</file>